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aa8b17f9c54aa4" /><Relationship Type="http://schemas.openxmlformats.org/officeDocument/2006/relationships/extended-properties" Target="/docProps/app.xml" Id="Rc8edf16de9cd43eb" /><Relationship Type="http://schemas.openxmlformats.org/officeDocument/2006/relationships/officeDocument" Target="/ppt/presentation.xml" Id="R08f675d8027e4a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907d521ae7400e"/>
  </p:sldMasterIdLst>
  <p:notesMasterIdLst>
    <p:notesMasterId xmlns:r="http://schemas.openxmlformats.org/officeDocument/2006/relationships" r:id="R36632d2010e04252"/>
  </p:notesMasterIdLst>
  <p:sldIdLst>
    <p:sldId xmlns:r="http://schemas.openxmlformats.org/officeDocument/2006/relationships" id="256" r:id="R7a8446f97780445b"/>
    <p:sldId xmlns:r="http://schemas.openxmlformats.org/officeDocument/2006/relationships" id="257" r:id="Re3e8b8b428ea46d8"/>
    <p:sldId xmlns:r="http://schemas.openxmlformats.org/officeDocument/2006/relationships" id="258" r:id="R0cc953c337f3421e"/>
    <p:sldId xmlns:r="http://schemas.openxmlformats.org/officeDocument/2006/relationships" id="259" r:id="R678af91789d0412a"/>
    <p:sldId xmlns:r="http://schemas.openxmlformats.org/officeDocument/2006/relationships" id="260" r:id="R135b1eb152e94625"/>
    <p:sldId xmlns:r="http://schemas.openxmlformats.org/officeDocument/2006/relationships" id="261" r:id="R5c88212c594a4d4c"/>
    <p:sldId xmlns:r="http://schemas.openxmlformats.org/officeDocument/2006/relationships" id="262" r:id="Raabc1e544c7f4837"/>
    <p:sldId xmlns:r="http://schemas.openxmlformats.org/officeDocument/2006/relationships" id="263" r:id="R27776471bc644588"/>
    <p:sldId xmlns:r="http://schemas.openxmlformats.org/officeDocument/2006/relationships" id="264" r:id="R3ba05a1415da4292"/>
    <p:sldId xmlns:r="http://schemas.openxmlformats.org/officeDocument/2006/relationships" id="265" r:id="R401e68c3cf3f4a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84644926634e40" /><Relationship Type="http://schemas.openxmlformats.org/officeDocument/2006/relationships/slideMaster" Target="/ppt/slideMasters/slideMaster1.xml" Id="Rfa907d521ae7400e" /><Relationship Type="http://schemas.openxmlformats.org/officeDocument/2006/relationships/notesMaster" Target="/ppt/notesMasters/notesMaster1.xml" Id="R36632d2010e04252" /><Relationship Type="http://schemas.openxmlformats.org/officeDocument/2006/relationships/presProps" Target="/ppt/presProps.xml" Id="Rf70f9876c4a74200" /><Relationship Type="http://schemas.openxmlformats.org/officeDocument/2006/relationships/tableStyles" Target="/ppt/tableStyles.xml" Id="R61f9109831d747d0" /><Relationship Type="http://schemas.openxmlformats.org/officeDocument/2006/relationships/slide" Target="/ppt/slides/slide1.xml" Id="R7a8446f97780445b" /><Relationship Type="http://schemas.openxmlformats.org/officeDocument/2006/relationships/slide" Target="/ppt/slides/slide2.xml" Id="Re3e8b8b428ea46d8" /><Relationship Type="http://schemas.openxmlformats.org/officeDocument/2006/relationships/slide" Target="/ppt/slides/slide3.xml" Id="R0cc953c337f3421e" /><Relationship Type="http://schemas.openxmlformats.org/officeDocument/2006/relationships/slide" Target="/ppt/slides/slide4.xml" Id="R678af91789d0412a" /><Relationship Type="http://schemas.openxmlformats.org/officeDocument/2006/relationships/slide" Target="/ppt/slides/slide5.xml" Id="R135b1eb152e94625" /><Relationship Type="http://schemas.openxmlformats.org/officeDocument/2006/relationships/slide" Target="/ppt/slides/slide6.xml" Id="R5c88212c594a4d4c" /><Relationship Type="http://schemas.openxmlformats.org/officeDocument/2006/relationships/slide" Target="/ppt/slides/slide7.xml" Id="Raabc1e544c7f4837" /><Relationship Type="http://schemas.openxmlformats.org/officeDocument/2006/relationships/slide" Target="/ppt/slides/slide8.xml" Id="R27776471bc644588" /><Relationship Type="http://schemas.openxmlformats.org/officeDocument/2006/relationships/slide" Target="/ppt/slides/slide9.xml" Id="R3ba05a1415da4292" /><Relationship Type="http://schemas.openxmlformats.org/officeDocument/2006/relationships/slide" Target="/ppt/slides/slide10.xml" Id="R401e68c3cf3f4a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2fd92ca81d4a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293f74ee7a43ba" /><Relationship Type="http://schemas.openxmlformats.org/officeDocument/2006/relationships/notesMaster" Target="/ppt/notesMasters/notesMaster1.xml" Id="R8ad6a4a6cc114c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019ecc80f44378" /><Relationship Type="http://schemas.openxmlformats.org/officeDocument/2006/relationships/notesMaster" Target="/ppt/notesMasters/notesMaster1.xml" Id="R350b7885652e4f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d83a954d514073" /><Relationship Type="http://schemas.openxmlformats.org/officeDocument/2006/relationships/notesMaster" Target="/ppt/notesMasters/notesMaster1.xml" Id="R7112f252e9a34b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dece8a0edc41a5" /><Relationship Type="http://schemas.openxmlformats.org/officeDocument/2006/relationships/notesMaster" Target="/ppt/notesMasters/notesMaster1.xml" Id="Ra0b4136002e348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f0f4c19eac439c" /><Relationship Type="http://schemas.openxmlformats.org/officeDocument/2006/relationships/notesMaster" Target="/ppt/notesMasters/notesMaster1.xml" Id="R9a3c1a7618f84b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a6b746d5ad4028" /><Relationship Type="http://schemas.openxmlformats.org/officeDocument/2006/relationships/notesMaster" Target="/ppt/notesMasters/notesMaster1.xml" Id="R7074aee0247645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1b292b6ba14e99" /><Relationship Type="http://schemas.openxmlformats.org/officeDocument/2006/relationships/notesMaster" Target="/ppt/notesMasters/notesMaster1.xml" Id="R0c20abe824e34b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0ae4b6d9044d19" /><Relationship Type="http://schemas.openxmlformats.org/officeDocument/2006/relationships/notesMaster" Target="/ppt/notesMasters/notesMaster1.xml" Id="R1c0b05338f224c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8e0beaad6d4e60" /><Relationship Type="http://schemas.openxmlformats.org/officeDocument/2006/relationships/notesMaster" Target="/ppt/notesMasters/notesMaster1.xml" Id="R6294f8cd669c46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a489e019f54a79" /><Relationship Type="http://schemas.openxmlformats.org/officeDocument/2006/relationships/notesMaster" Target="/ppt/notesMasters/notesMaster1.xml" Id="Rc7fcafef8fc74f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https://docs.google.com/presentation/d/14IeKqlR2tbRzxEievuEz4XRwKJYMbjr0rapqQcEy_wg/edit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A/B тест: </a:t>
            </a:r>
          </a:p>
          <a:p xmlns:a="http://schemas.openxmlformats.org/drawingml/2006/main">
            <a:r>
              <a:t>мобильное приложение с ежедневными </a:t>
            </a:r>
          </a:p>
          <a:p xmlns:a="http://schemas.openxmlformats.org/drawingml/2006/main">
            <a:r>
              <a:t>мотивирующими цитатами </a:t>
            </a:r>
          </a:p>
          <a:p xmlns:a="http://schemas.openxmlformats.org/drawingml/2006/main">
            <a:r>
              <a:t>@EvgeniaKoma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https://docs.google.com/presentation/d/14IeKqlR2tbRzxEievuEz4XRwKJYMbjr0rapqQcEy_wg/edit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Исходные данные</a:t>
            </a:r>
          </a:p>
          <a:p xmlns:a="http://schemas.openxmlformats.org/drawingml/2006/main">
            <a:r>
              <a:t>● Быстрорастущий стартап, за 12 дней привлечено 50000 </a:t>
            </a:r>
          </a:p>
          <a:p xmlns:a="http://schemas.openxmlformats.org/drawingml/2006/main">
            <a:r>
              <a:t>пользователей</a:t>
            </a:r>
          </a:p>
          <a:p xmlns:a="http://schemas.openxmlformats.org/drawingml/2006/main">
            <a:r>
              <a:t>● CR в подписку = 20% при CR в покупку (подписка или разовая покупка) = 50%, </a:t>
            </a:r>
          </a:p>
          <a:p xmlns:a="http://schemas.openxmlformats.org/drawingml/2006/main">
            <a:r>
              <a:t>○ т.е. ценность у продукта большая, но стоимость подписки, возможно, отпугивает </a:t>
            </a:r>
          </a:p>
          <a:p xmlns:a="http://schemas.openxmlformats.org/drawingml/2006/main">
            <a:r>
              <a:t>пользователей, которые в принципе согласны платить</a:t>
            </a:r>
          </a:p>
          <a:p xmlns:a="http://schemas.openxmlformats.org/drawingml/2006/main">
            <a:r>
              <a:t>● Проведен А/В тест:</a:t>
            </a:r>
          </a:p>
          <a:p xmlns:a="http://schemas.openxmlformats.org/drawingml/2006/main">
            <a:r>
              <a:t>○ новые пользователи, сплит 50/50</a:t>
            </a:r>
          </a:p>
          <a:p xmlns:a="http://schemas.openxmlformats.org/drawingml/2006/main">
            <a:r>
              <a:t>○ снижение стоимости подписки с 400 у.е. до 160 у.е.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https://docs.google.com/presentation/d/14IeKqlR2tbRzxEievuEz4XRwKJYMbjr0rapqQcEy_wg/edit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Гипотеза</a:t>
            </a:r>
          </a:p>
          <a:p xmlns:a="http://schemas.openxmlformats.org/drawingml/2006/main">
            <a:r>
              <a:t>● Если мы снизим стоимость подписки с 400 до 160 у.е. для новых </a:t>
            </a:r>
          </a:p>
          <a:p xmlns:a="http://schemas.openxmlformats.org/drawingml/2006/main">
            <a:r>
              <a:t>пользователей, то общая выручка на пользователя вырастет за </a:t>
            </a:r>
          </a:p>
          <a:p xmlns:a="http://schemas.openxmlformats.org/drawingml/2006/main">
            <a:r>
              <a:t>счет роста конверсии в покупку при неснижении (незначительном </a:t>
            </a:r>
          </a:p>
          <a:p xmlns:a="http://schemas.openxmlformats.org/drawingml/2006/main">
            <a:r>
              <a:t>снижении) конверсии в разовую покупку</a:t>
            </a:r>
          </a:p>
          <a:p xmlns:a="http://schemas.openxmlformats.org/drawingml/2006/main">
            <a:r>
              <a:t>● Для сохранения прежнего уровня дохода при снижении стоимости </a:t>
            </a:r>
          </a:p>
          <a:p xmlns:a="http://schemas.openxmlformats.org/drawingml/2006/main">
            <a:r>
              <a:t>подписки нужно увеличение конверсии в подписку с 20% до 50% </a:t>
            </a:r>
          </a:p>
          <a:p xmlns:a="http://schemas.openxmlformats.org/drawingml/2006/main">
            <a:r>
              <a:t>● ! Нужно дальше отследить конверсию во вторую и последующие </a:t>
            </a:r>
          </a:p>
          <a:p xmlns:a="http://schemas.openxmlformats.org/drawingml/2006/main">
            <a:r>
              <a:t>подписки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https://docs.google.com/presentation/d/14IeKqlR2tbRzxEievuEz4XRwKJYMbjr0rapqQcEy_wg/edit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Метрики</a:t>
            </a:r>
          </a:p>
          <a:p xmlns:a="http://schemas.openxmlformats.org/drawingml/2006/main">
            <a:r>
              <a:t>● Ключевая: ARPU (будет учитывать не только подписки, но и разовые </a:t>
            </a:r>
          </a:p>
          <a:p xmlns:a="http://schemas.openxmlformats.org/drawingml/2006/main">
            <a:r>
              <a:t>доходы)</a:t>
            </a:r>
          </a:p>
          <a:p xmlns:a="http://schemas.openxmlformats.org/drawingml/2006/main">
            <a:r>
              <a:t>● Прокси: Конверсия в подписку (быстрее покажет результат, пока доход </a:t>
            </a:r>
          </a:p>
          <a:p xmlns:a="http://schemas.openxmlformats.org/drawingml/2006/main">
            <a:r>
              <a:t>не накопился)</a:t>
            </a:r>
          </a:p>
          <a:p xmlns:a="http://schemas.openxmlformats.org/drawingml/2006/main">
            <a:r>
              <a:t>● Заградительные:</a:t>
            </a:r>
          </a:p>
          <a:p xmlns:a="http://schemas.openxmlformats.org/drawingml/2006/main">
            <a:r>
              <a:t>○ Конверсия в разовые покупки (выручка от разовых покупок - если может быть разная </a:t>
            </a:r>
          </a:p>
          <a:p xmlns:a="http://schemas.openxmlformats.org/drawingml/2006/main">
            <a:r>
              <a:t>стоимость; покажет каннибализацию дохода)</a:t>
            </a:r>
          </a:p>
          <a:p xmlns:a="http://schemas.openxmlformats.org/drawingml/2006/main">
            <a:r>
              <a:t>○ Retention 7, 14 дня (снижение цены может привлечь менее лояльную аудиторию, </a:t>
            </a:r>
          </a:p>
          <a:p xmlns:a="http://schemas.openxmlformats.org/drawingml/2006/main">
            <a:r>
              <a:t>которая быстрее «отваливается», что может сказаться на покупке подписок на </a:t>
            </a:r>
          </a:p>
          <a:p xmlns:a="http://schemas.openxmlformats.org/drawingml/2006/main">
            <a:r>
              <a:t>следующие периоды)</a:t>
            </a:r>
          </a:p>
          <a:p xmlns:a="http://schemas.openxmlformats.org/drawingml/2006/main">
            <a:r>
              <a:t>● Информационные:</a:t>
            </a:r>
          </a:p>
          <a:p xmlns:a="http://schemas.openxmlformats.org/drawingml/2006/main">
            <a:r>
              <a:t>○ время от установки приложения до первой оплаты</a:t>
            </a:r>
          </a:p>
          <a:p xmlns:a="http://schemas.openxmlformats.org/drawingml/2006/main">
            <a:r>
              <a:t>○ количество фичей, с которыми взаимодействовал пользователь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https://docs.google.com/presentation/d/14IeKqlR2tbRzxEievuEz4XRwKJYMbjr0rapqQcEy_wg/edit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Сплитование, длительность и MDE</a:t>
            </a:r>
          </a:p>
          <a:p xmlns:a="http://schemas.openxmlformats.org/drawingml/2006/main">
            <a:r>
              <a:t>● Сплитование проведено корректно:</a:t>
            </a:r>
          </a:p>
          <a:p xmlns:a="http://schemas.openxmlformats.org/drawingml/2006/main">
            <a:r>
              <a:t>○ SRM не обнаружено</a:t>
            </a:r>
          </a:p>
          <a:p xmlns:a="http://schemas.openxmlformats.org/drawingml/2006/main">
            <a:r>
              <a:t>○ конфликта с другим тестом нет</a:t>
            </a:r>
          </a:p>
          <a:p xmlns:a="http://schemas.openxmlformats.org/drawingml/2006/main">
            <a:r>
              <a:t>○ группы репрезентативны с точки зрения взаимодействия с фичами</a:t>
            </a:r>
          </a:p>
          <a:p xmlns:a="http://schemas.openxmlformats.org/drawingml/2006/main">
            <a:r>
              <a:t>○ запуск и финал эксперимента для групп произошел одновременно</a:t>
            </a:r>
          </a:p>
          <a:p xmlns:a="http://schemas.openxmlformats.org/drawingml/2006/main">
            <a:r>
              <a:t>● Длительность теста - 11 полных суток - есть риск смещенной оценки из-</a:t>
            </a:r>
          </a:p>
          <a:p xmlns:a="http://schemas.openxmlformats.org/drawingml/2006/main">
            <a:r>
              <a:t>за дисбаланса рабочих и выходных дней</a:t>
            </a:r>
          </a:p>
          <a:p xmlns:a="http://schemas.openxmlformats.org/drawingml/2006/main">
            <a:r>
              <a:t>● С точки зрения уровня конверсии, необходимого для безубыточности, </a:t>
            </a:r>
          </a:p>
          <a:p xmlns:a="http://schemas.openxmlformats.org/drawingml/2006/main">
            <a:r>
              <a:t>выборка набрана достаточная</a:t>
            </a:r>
          </a:p>
          <a:p xmlns:a="http://schemas.openxmlformats.org/drawingml/2006/main">
            <a:r>
              <a:t>● С учетом дисперсии исторических данных, MDE для ARPU примерно </a:t>
            </a:r>
          </a:p>
          <a:p xmlns:a="http://schemas.openxmlformats.org/drawingml/2006/main">
            <a:r>
              <a:t>равен 3,2 у.е.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https://docs.google.com/presentation/d/14IeKqlR2tbRzxEievuEz4XRwKJYMbjr0rapqQcEy_wg/edit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Результаты теста: ключевая и прокси метрика</a:t>
            </a:r>
          </a:p>
          <a:p xmlns:a="http://schemas.openxmlformats.org/drawingml/2006/main">
            <a:r>
              <a:t>● ARPU</a:t>
            </a:r>
          </a:p>
          <a:p xmlns:a="http://schemas.openxmlformats.org/drawingml/2006/main">
            <a:r>
              <a:t>○ Welch t-test, bootstrap</a:t>
            </a:r>
          </a:p>
          <a:p xmlns:a="http://schemas.openxmlformats.org/drawingml/2006/main">
            <a:r>
              <a:t>○ 154,5 в тестовой группе против 153,6 в контрольной (меньше MDE) - статистически </a:t>
            </a:r>
          </a:p>
          <a:p xmlns:a="http://schemas.openxmlformats.org/drawingml/2006/main">
            <a:r>
              <a:t>незначимо - НЕ МОЖЕМ ГОВОРИТЬ О ПОВЫШЕНИИ СРЕДНЕГО ДОХОДА</a:t>
            </a:r>
          </a:p>
          <a:p xmlns:a="http://schemas.openxmlformats.org/drawingml/2006/main">
            <a:r>
              <a:t>● CR в подписку</a:t>
            </a:r>
          </a:p>
          <a:p xmlns:a="http://schemas.openxmlformats.org/drawingml/2006/main">
            <a:r>
              <a:t>○ Хи-квадрат</a:t>
            </a:r>
          </a:p>
          <a:p xmlns:a="http://schemas.openxmlformats.org/drawingml/2006/main">
            <a:r>
              <a:t>○ 49,9% в тестовой группе против 19,8% в контрольной - статистически значимо</a:t>
            </a:r>
          </a:p>
          <a:p xmlns:a="http://schemas.openxmlformats.org/drawingml/2006/main">
            <a:r>
              <a:t>○ Повышение конверсии ровно обеспечило выход на безубыточность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https://docs.google.com/presentation/d/14IeKqlR2tbRzxEievuEz4XRwKJYMbjr0rapqQcEy_wg/edit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Результаты теста: заградительные метрики</a:t>
            </a:r>
          </a:p>
          <a:p xmlns:a="http://schemas.openxmlformats.org/drawingml/2006/main">
            <a:r>
              <a:t>● Конверсия в разовые покупки:</a:t>
            </a:r>
          </a:p>
          <a:p xmlns:a="http://schemas.openxmlformats.org/drawingml/2006/main">
            <a:r>
              <a:t>○ Хи-квадрат</a:t>
            </a:r>
          </a:p>
          <a:p xmlns:a="http://schemas.openxmlformats.org/drawingml/2006/main">
            <a:r>
              <a:t>○ 37,15% в контрольной группе против 37,34% в тестовой - различие статистически </a:t>
            </a:r>
          </a:p>
          <a:p xmlns:a="http://schemas.openxmlformats.org/drawingml/2006/main">
            <a:r>
              <a:t>незначимо</a:t>
            </a:r>
          </a:p>
          <a:p xmlns:a="http://schemas.openxmlformats.org/drawingml/2006/main">
            <a:r>
              <a:t>○ конверсия не упала, снижение стоимости подписки не повлияло каннибализацию </a:t>
            </a:r>
          </a:p>
          <a:p xmlns:a="http://schemas.openxmlformats.org/drawingml/2006/main">
            <a:r>
              <a:t>дохода от разовых покупок</a:t>
            </a:r>
          </a:p>
          <a:p xmlns:a="http://schemas.openxmlformats.org/drawingml/2006/main">
            <a:r>
              <a:t>● Retention 7, 14 дня - не может быть рассчитан на представленных </a:t>
            </a:r>
          </a:p>
          <a:p xmlns:a="http://schemas.openxmlformats.org/drawingml/2006/main">
            <a:r>
              <a:t>данных (все взаимодействия с фичами у пользователей происходят в </a:t>
            </a:r>
          </a:p>
          <a:p xmlns:a="http://schemas.openxmlformats.org/drawingml/2006/main">
            <a:r>
              <a:t>первый день после первого входа - ошибка логирования?)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https://docs.google.com/presentation/d/14IeKqlR2tbRzxEievuEz4XRwKJYMbjr0rapqQcEy_wg/edit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Результаты теста: информационные метрики</a:t>
            </a:r>
          </a:p>
          <a:p xmlns:a="http://schemas.openxmlformats.org/drawingml/2006/main">
            <a:r>
              <a:t>● Время от установки приложения до первой оплаты: не может быть </a:t>
            </a:r>
          </a:p>
          <a:p xmlns:a="http://schemas.openxmlformats.org/drawingml/2006/main">
            <a:r>
              <a:t>рассчитано на имеющихся данных</a:t>
            </a:r>
          </a:p>
          <a:p xmlns:a="http://schemas.openxmlformats.org/drawingml/2006/main">
            <a:r>
              <a:t>● Взаимодействие пользователей с фичами:</a:t>
            </a:r>
          </a:p>
          <a:p xmlns:a="http://schemas.openxmlformats.org/drawingml/2006/main">
            <a:r>
              <a:t>○ одинаковое в контрольной и тестовой группе</a:t>
            </a:r>
          </a:p>
          <a:p xmlns:a="http://schemas.openxmlformats.org/drawingml/2006/main">
            <a:r>
              <a:t>○ взаимодействие более активное по сравнению с историческими данными</a:t>
            </a:r>
          </a:p>
          <a:p xmlns:a="http://schemas.openxmlformats.org/drawingml/2006/main">
            <a:r>
              <a:t>○ главным образом “подросли” первые три фичи, провалов нет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https://docs.google.com/presentation/d/14IeKqlR2tbRzxEievuEz4XRwKJYMbjr0rapqQcEy_wg/edit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Основные риски</a:t>
            </a:r>
          </a:p>
          <a:p xmlns:a="http://schemas.openxmlformats.org/drawingml/2006/main">
            <a:r>
              <a:t>● Привлеченная аудитория</a:t>
            </a:r>
          </a:p>
          <a:p xmlns:a="http://schemas.openxmlformats.org/drawingml/2006/main">
            <a:r>
              <a:t>○ Необходимо понимать срок жизни пользователей в каждой группе, чтобы считать </a:t>
            </a:r>
          </a:p>
          <a:p xmlns:a="http://schemas.openxmlformats.org/drawingml/2006/main">
            <a:r>
              <a:t>валовые показатели (годовой доход)</a:t>
            </a:r>
          </a:p>
          <a:p xmlns:a="http://schemas.openxmlformats.org/drawingml/2006/main">
            <a:r>
              <a:t>○ Нужна конверсия во вторую/третью подписку: возможно, по 160 у.е. была привлечена </a:t>
            </a:r>
          </a:p>
          <a:p xmlns:a="http://schemas.openxmlformats.org/drawingml/2006/main">
            <a:r>
              <a:t>аудитория, менее склонная к дальнейшему продлению</a:t>
            </a:r>
          </a:p>
          <a:p xmlns:a="http://schemas.openxmlformats.org/drawingml/2006/main">
            <a:r>
              <a:t>● Временные рамки эксперимента</a:t>
            </a:r>
          </a:p>
          <a:p xmlns:a="http://schemas.openxmlformats.org/drawingml/2006/main">
            <a:r>
              <a:t>○ Эксперимент проведен всего за 11 суток, из них 4 - выходных - может не вполне </a:t>
            </a:r>
          </a:p>
          <a:p xmlns:a="http://schemas.openxmlformats.org/drawingml/2006/main">
            <a:r>
              <a:t>отражать среднее поведение пользователей</a:t>
            </a:r>
          </a:p>
          <a:p xmlns:a="http://schemas.openxmlformats.org/drawingml/2006/main">
            <a:r>
              <a:t>○ Эксперимент проведен в самом начале года, когда пользователи намерены срочно что-</a:t>
            </a:r>
          </a:p>
          <a:p xmlns:a="http://schemas.openxmlformats.org/drawingml/2006/main">
            <a:r>
              <a:t>то менять в жизни, и продукт с мотивирующими цитатами  в такой момент может давать </a:t>
            </a:r>
          </a:p>
          <a:p xmlns:a="http://schemas.openxmlformats.org/drawingml/2006/main">
            <a:r>
              <a:t>более высокие показатели</a:t>
            </a:r>
          </a:p>
          <a:p xmlns:a="http://schemas.openxmlformats.org/drawingml/2006/main">
            <a:r>
              <a:t>● Недостаточные данные</a:t>
            </a:r>
          </a:p>
          <a:p xmlns:a="http://schemas.openxmlformats.org/drawingml/2006/main">
            <a:r>
              <a:t>○ Чтобы прогнозировать отток пользователей, нужно рассчитать retention, для чего не </a:t>
            </a:r>
          </a:p>
          <a:p xmlns:a="http://schemas.openxmlformats.org/drawingml/2006/main">
            <a:r>
              <a:t>хватает данных - нужно вести логирование времени платежей и т.д.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https://docs.google.com/presentation/d/14IeKqlR2tbRzxEievuEz4XRwKJYMbjr0rapqQcEy_wg/edit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Рекомендации</a:t>
            </a:r>
          </a:p>
          <a:p xmlns:a="http://schemas.openxmlformats.org/drawingml/2006/main">
            <a:r>
              <a:t>На данный момент доход не падает от введения новой стоимости подписки, </a:t>
            </a:r>
          </a:p>
          <a:p xmlns:a="http://schemas.openxmlformats.org/drawingml/2006/main">
            <a:r>
              <a:t>поэтому имеет смысл провести еще один эксперимент (продолжение </a:t>
            </a:r>
          </a:p>
          <a:p xmlns:a="http://schemas.openxmlformats.org/drawingml/2006/main">
            <a:r>
              <a:t>старого):</a:t>
            </a:r>
          </a:p>
          <a:p xmlns:a="http://schemas.openxmlformats.org/drawingml/2006/main">
            <a:r>
              <a:t>● зафиксировать конверсию во вторую подписку</a:t>
            </a:r>
          </a:p>
          <a:p xmlns:a="http://schemas.openxmlformats.org/drawingml/2006/main">
            <a:r>
              <a:t>● наладить логирование, чтобы зафиксировать поведение пользователей </a:t>
            </a:r>
          </a:p>
          <a:p xmlns:a="http://schemas.openxmlformats.org/drawingml/2006/main">
            <a:r>
              <a:t>во времени</a:t>
            </a:r>
          </a:p>
          <a:p xmlns:a="http://schemas.openxmlformats.org/drawingml/2006/main">
            <a:r>
              <a:t>● провести эксперимент в течение 2 недель, чтобы учесть недельную </a:t>
            </a:r>
          </a:p>
          <a:p xmlns:a="http://schemas.openxmlformats.org/drawingml/2006/main">
            <a:r>
              <a:t>сезонность и стабилизировать данные</a:t>
            </a:r>
          </a:p>
          <a:p xmlns:a="http://schemas.openxmlformats.org/drawingml/2006/main">
            <a:r>
              <a:t>● чтобы точнее понять эластичность спроса по цене, можно рассмотреть </a:t>
            </a:r>
          </a:p>
          <a:p xmlns:a="http://schemas.openxmlformats.org/drawingml/2006/main">
            <a:r>
              <a:t>введение третьей промежуточной группы</a:t>
            </a:r>
          </a:p>
          <a:p xmlns:a="http://schemas.openxmlformats.org/drawingml/2006/main">
            <a:r>
              <a:t>Также нужно соотносить результаты эксперимента с долгосрочным </a:t>
            </a:r>
          </a:p>
          <a:p xmlns:a="http://schemas.openxmlformats.org/drawingml/2006/main">
            <a:r>
              <a:t>планированием: если есть цель нарастить активную аудиторию, имеет смысл </a:t>
            </a:r>
          </a:p>
          <a:p xmlns:a="http://schemas.openxmlformats.org/drawingml/2006/main">
            <a:r>
              <a:t>оставить стоимость подписки на уровне 160 у.е.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0e232cf554f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63f0381eb94b70" /><Relationship Type="http://schemas.openxmlformats.org/officeDocument/2006/relationships/slideLayout" Target="/ppt/slideLayouts/slideLayout1.xml" Id="R9327d828bf114c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27d828bf114c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7a0b8cf9f4fe9" /><Relationship Type="http://schemas.openxmlformats.org/officeDocument/2006/relationships/notesSlide" Target="/ppt/notesSlides/notesSlide1.xml" Id="Rc9ee2c99955146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be4ab66814b04" /><Relationship Type="http://schemas.openxmlformats.org/officeDocument/2006/relationships/notesSlide" Target="/ppt/notesSlides/notesSlide2.xml" Id="R3485d429288a4b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6784b17064222" /><Relationship Type="http://schemas.openxmlformats.org/officeDocument/2006/relationships/notesSlide" Target="/ppt/notesSlides/notesSlide3.xml" Id="R4d21deeded664e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0805d9b704538" /><Relationship Type="http://schemas.openxmlformats.org/officeDocument/2006/relationships/notesSlide" Target="/ppt/notesSlides/notesSlide4.xml" Id="Ra60404a5630040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f9800f32a431e" /><Relationship Type="http://schemas.openxmlformats.org/officeDocument/2006/relationships/notesSlide" Target="/ppt/notesSlides/notesSlide5.xml" Id="Rad6645d784714d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f052dcdce46b1" /><Relationship Type="http://schemas.openxmlformats.org/officeDocument/2006/relationships/notesSlide" Target="/ppt/notesSlides/notesSlide6.xml" Id="Rd96d6b80e4f545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36fab410b4934" /><Relationship Type="http://schemas.openxmlformats.org/officeDocument/2006/relationships/notesSlide" Target="/ppt/notesSlides/notesSlide7.xml" Id="R96c7b605f3ae4e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31bc92fa8419d" /><Relationship Type="http://schemas.openxmlformats.org/officeDocument/2006/relationships/notesSlide" Target="/ppt/notesSlides/notesSlide8.xml" Id="R0f6e84b6c1884c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24fcc708e49ec" /><Relationship Type="http://schemas.openxmlformats.org/officeDocument/2006/relationships/notesSlide" Target="/ppt/notesSlides/notesSlide9.xml" Id="R17075c47f7d14f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1718dc8954911" /><Relationship Type="http://schemas.openxmlformats.org/officeDocument/2006/relationships/notesSlide" Target="/ppt/notesSlides/notesSlide10.xml" Id="Rf89a38cbf1ad4c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1D2D1-C1B4-43D4-8455-BA949E8A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16ED9-521A-40CA-9D44-A50EF55B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19F27-0A4D-42FE-9FD7-CD339859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Снижение цены подписки: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EA1BA-AF20-4A69-8F59-3DE622D8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аудит эксперимента</a:t>
            </a:r>
          </a:p>
          <a:p xmlns:a="http://schemas.openxmlformats.org/drawingml/2006/main">
            <a:pPr>
              <a:defRPr sz="4350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и оценка выручки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67AC3-52D2-4ACE-9F51-7AA109F2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@EvgeniaKoma</a:t>
            </a:r>
          </a:p>
        </p:txBody>
      </p:sp>
    </p:spTree>
    <p:extLst>
      <p:ext uri="{BB962C8B-B14F-4D97-AF65-F5344CB8AC3E}">
        <p14:creationId xmlns:p14="http://schemas.microsoft.com/office/powerpoint/2010/main" val="1491406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0664D-4183-47E5-B279-AC041FED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Исходные 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0C690-7D5F-4F3F-B52C-325367D4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2D5A8-DC36-4BE6-B7F9-5F185866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Быстрорастущий</a:t>
            </a:r>
          </a:p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стартап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067BB-DF89-4ACD-A05F-4243FBDF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За 12 дней привлечено 50 000 пользователей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535A6-96D9-4833-B51D-0D3EFD26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Конверсия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0ECFC-E3C3-4638-9E5A-B1480C62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8001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CR в подписку = 20% при CR в покупку (подписка или разовая покупка) = 50%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т.е. ценность у продукта большая, но стоимость подписки, возможно, отпугивает пользователей, которые в принципе согласны платить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B2C7E-B519-4C92-8EFC-FEE7FB40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Проведен А/В тест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99EAB-ECDD-498C-AA6D-C304E368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43500"/>
            <a:ext cx="800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Новые пользователи, сплит 50/50</a:t>
            </a:r>
          </a:p>
          <a:p xmlns:a="http://schemas.openxmlformats.org/drawingml/2006/main">
            <a:pPr>
              <a:defRPr sz="20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Снижение стоимости подписки с 400 у.е. до 160 у.е.</a:t>
            </a:r>
          </a:p>
        </p:txBody>
      </p:sp>
    </p:spTree>
    <p:extLst>
      <p:ext uri="{BB962C8B-B14F-4D97-AF65-F5344CB8AC3E}">
        <p14:creationId xmlns:p14="http://schemas.microsoft.com/office/powerpoint/2010/main" val="118894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2828B-71FC-4377-9FE9-1BB31C8C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3651B-8145-4BE7-B688-CFD938EB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EA7FF-5818-4E1F-A120-5404BE01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Если мы снизим стоимость подписки с 400 до 160 у.е. для новых пользователей, то общая выручка на пользователя вырастет за счет роста конверсии в покупку при неснижении (незначительном снижении) конверсии в разовую покупку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74064-0D71-4C3F-BF98-AB29F06A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Для сохранения прежнего уровня дохода при снижении стоимости подписки нужно увеличение конверсии в подписку с 20% до 50%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6A247-6626-4D2C-AEAC-77058D71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! Нужно дальше отследить конверсию во вторую и последующие подписки</a:t>
            </a:r>
          </a:p>
        </p:txBody>
      </p:sp>
    </p:spTree>
    <p:extLst>
      <p:ext uri="{BB962C8B-B14F-4D97-AF65-F5344CB8AC3E}">
        <p14:creationId xmlns:p14="http://schemas.microsoft.com/office/powerpoint/2010/main" val="11436856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E6898-7156-4EEF-9423-1CB9E12B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Метрики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82AA3-D3A9-4D72-9F69-F25E0675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ADBEB-F977-4BD9-A0F6-5360F3AE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Ключевая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C04C7-C215-4348-B4C8-D64CDDA0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28750"/>
            <a:ext cx="800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ARPU (будет учитывать не только подписки, но и разовые доходы)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15D05-121A-4253-904D-9A26011B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Прокси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5B9F1-1CBD-4DF2-AF35-F51FBBDC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Конверсия в подписку (быстрее покажет результат, пока доход не накопился)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352C2-541C-4EF5-8DF7-FB5A3D47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667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Заградительные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7E8DE-17BE-46A4-A45A-C5C19B0D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81375"/>
            <a:ext cx="8001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Конверсия в разовые покупки (выручка от разовых покупок, если может быть разная стоимость; покажет каннибализацию дохода)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Retention 7, 14 дня (снижение цены может привлечь менее лояльную аудиторию, которая быстрее «отваливается», что может сказаться на покупке подписок на следующие периоды)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3B2D5-4F58-454F-A8E5-ADD221D2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Информационные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CD3E3-02DF-4594-A084-A1AD0BA8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959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Время от установки приложения до первой оплаты</a:t>
            </a:r>
          </a:p>
          <a:p xmlns:a="http://schemas.openxmlformats.org/drawingml/2006/main">
            <a:pPr>
              <a:defRPr sz="17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Количество фичей, с которыми взаимодействовал пользователь</a:t>
            </a:r>
          </a:p>
        </p:txBody>
      </p:sp>
    </p:spTree>
    <p:extLst>
      <p:ext uri="{BB962C8B-B14F-4D97-AF65-F5344CB8AC3E}">
        <p14:creationId xmlns:p14="http://schemas.microsoft.com/office/powerpoint/2010/main" val="12081093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170DE-54BF-4B3D-A66C-2ADBA795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Сплитование, длительность и MDE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9981C-65F4-4D03-926D-535F8BD5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D9244-BDF7-4AC5-8475-C36A24C9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266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Сплитование</a:t>
            </a:r>
          </a:p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проведено корректно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F6D07-A89D-4E9C-868B-25322519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38275"/>
            <a:ext cx="8001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SRM не обнаружено</a:t>
            </a:r>
          </a:p>
          <a:p xmlns:a="http://schemas.openxmlformats.org/drawingml/2006/main">
            <a:pPr>
              <a:defRPr sz="187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Конфликта с другим тестом нет</a:t>
            </a:r>
          </a:p>
          <a:p xmlns:a="http://schemas.openxmlformats.org/drawingml/2006/main">
            <a:pPr>
              <a:defRPr sz="187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Группы репрезентативны с точки зрения взаимодействия с фичами</a:t>
            </a:r>
          </a:p>
          <a:p xmlns:a="http://schemas.openxmlformats.org/drawingml/2006/main">
            <a:pPr>
              <a:defRPr sz="187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Запуск и финал эксперимента для групп произошел одновременно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37ABA-8C5C-4B95-8B89-1769C521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Длительность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07491-E226-47A9-9BBF-66B2A180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57600"/>
            <a:ext cx="800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Длительность теста — 11 полных суток — есть риск смещенной оценки из-за дисбаланса рабочих и выходных дней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182E3-220D-4F0E-99A2-BD87366A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Выборка и MDE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98096-6FFE-4703-A057-EEE667A5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24425"/>
            <a:ext cx="8001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С точки зрения уровня конверсии, необходимого для безубыточности, выборка набрана достаточная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С учетом дисперсии исторических данных, MDE для ARPU примерно равен 3,2 у.е.</a:t>
            </a:r>
          </a:p>
        </p:txBody>
      </p:sp>
    </p:spTree>
    <p:extLst>
      <p:ext uri="{BB962C8B-B14F-4D97-AF65-F5344CB8AC3E}">
        <p14:creationId xmlns:p14="http://schemas.microsoft.com/office/powerpoint/2010/main" val="9430892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C904BC-771E-46AC-B79D-BF5DF753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Результаты теста: ключевая и прокси метрика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834A8-A696-4985-92AC-5D339B46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31829-CE9C-4A05-AC7D-9E68B7C5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ARPU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6F3FD-46A4-4647-A777-05124049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57325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CR в подписку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24B69-049E-4BB3-9E66-723278A3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153,6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75BE9-D109-4171-932C-4A409B5C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43125"/>
            <a:ext cx="2428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154,5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CA75C-CCD8-4F53-BC93-8FFC45C1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контрольная группа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D705B-C40F-4068-8856-A1CE6866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718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тестовая группа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32E00-2734-40B3-A7E2-BABC8C1A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19,8%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A4C78-50A2-422B-AD64-4244A80A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4312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49,9%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C06CD-F1F7-411B-B780-180FC048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контрольная группа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3DA7C-7F88-4436-84FC-0D322F85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тестовая группа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4D4ED-F32D-462F-92EC-F86E8161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Welch t-test, bootstrap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8D64D-B896-4BCB-B76F-70F43B5A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Хи-квадрат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85F7B-4077-4179-86F4-3BB80A6A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048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Меньше MDE, статистически незначимо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НЕ МОЖЕМ ГОВОРИТЬ О ПОВЫШЕНИИ СРЕДНЕГО ДОХОДА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5929D-AA0A-4E3E-8FB4-6A2384A6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5048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Статистически значимо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Повышение конверсии ровно обеспечило выход на безубыточность</a:t>
            </a:r>
          </a:p>
        </p:txBody>
      </p:sp>
    </p:spTree>
    <p:extLst>
      <p:ext uri="{BB962C8B-B14F-4D97-AF65-F5344CB8AC3E}">
        <p14:creationId xmlns:p14="http://schemas.microsoft.com/office/powerpoint/2010/main" val="606576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F6A12-DB84-45F1-85E4-BFE2643C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Результаты теста: заградительные метрики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5549C-ACB1-4544-B58E-CBE1F638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1BC69-659F-40F1-BD64-CCDDD226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26670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Конверсия</a:t>
            </a:r>
          </a:p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в разовые покупки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A2FB1-FE52-4D60-9896-100148F9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14475"/>
            <a:ext cx="80010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Хи-квадрат</a:t>
            </a:r>
          </a:p>
          <a:p xmlns:a="http://schemas.openxmlformats.org/drawingml/2006/main">
            <a:pPr>
              <a:defRPr sz="20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37,15% в контрольной группе против 37,34% в тестовой — различие статистически незначимо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Конверсия не упала, снижение стоимости подписки не повлияло на каннибализацию дохода от разовых покупок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E43A7-7A87-43AF-8CB0-7170D26C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Retention</a:t>
            </a:r>
          </a:p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7, 14 дня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8AC4B-8D91-486F-84CD-6C0A912A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67225"/>
            <a:ext cx="800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Не может быть рассчитан на представленных данных (все взаимодействия с фичами у пользователей происходят в первый день после первого входа — ошибка логирования?)</a:t>
            </a:r>
          </a:p>
        </p:txBody>
      </p:sp>
    </p:spTree>
    <p:extLst>
      <p:ext uri="{BB962C8B-B14F-4D97-AF65-F5344CB8AC3E}">
        <p14:creationId xmlns:p14="http://schemas.microsoft.com/office/powerpoint/2010/main" val="12039211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178D1-9165-456B-A218-B44255FE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Результаты теста: информационные метрики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7993C-8EC0-4027-9DD9-C93109A9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EE92C-433C-45D3-B3DF-F3074CBB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66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Время до</a:t>
            </a:r>
          </a:p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первой оплаты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3C735-94A0-4CB8-A876-6B0A2A98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8001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Время от установки приложения до первой оплаты: не может быть рассчитано на имеющихся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E0869-324E-4A02-801F-B35FBF17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66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Взаимодействие</a:t>
            </a:r>
          </a:p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с фичами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1C499-87F3-4F22-80ED-4D81BE41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8001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Взаимодействие пользователей с фичами: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Одинаковое в контрольной и тестовой группе</a:t>
            </a:r>
          </a:p>
          <a:p xmlns:a="http://schemas.openxmlformats.org/drawingml/2006/main">
            <a:pPr>
              <a:defRPr sz="20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Взаимодействие более активное по сравнению с историческими данными</a:t>
            </a:r>
          </a:p>
          <a:p xmlns:a="http://schemas.openxmlformats.org/drawingml/2006/main">
            <a:pPr>
              <a:defRPr sz="20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Главным образом «подросли» первые три фичи, провалов нет</a:t>
            </a:r>
          </a:p>
        </p:txBody>
      </p:sp>
    </p:spTree>
    <p:extLst>
      <p:ext uri="{BB962C8B-B14F-4D97-AF65-F5344CB8AC3E}">
        <p14:creationId xmlns:p14="http://schemas.microsoft.com/office/powerpoint/2010/main" val="21139797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2D15B-F59E-4F07-B311-D69CEEDF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Основные риски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C25A0-1D41-4F43-8325-3D8AC701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3B239-432F-47A2-B52C-4DE690AA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26670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Привлеченная</a:t>
            </a:r>
          </a:p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аудитория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CE3AD-0B6D-4916-A95F-59121244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09700"/>
            <a:ext cx="80010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Необходимо понимать срок жизни пользователей в каждой группе, чтобы считать валовые показатели (годовой доход)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Нужна конверсия во вторую/третью подписку: возможно, по 160 у.е. была привлечена аудитория, менее склонная к дальнейшему продлению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0EE2A-197A-45A8-A670-18A8C68B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66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Временные рамки</a:t>
            </a:r>
          </a:p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эксперимента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72285-9E62-4AF5-BC86-2007BC67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81375"/>
            <a:ext cx="800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Эксперимент проведен всего за 11 суток, из них 4 — выходных — может не вполне отражать среднее поведение пользователей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Эксперимент проведен в самом начале года, когда пользователи намерены срочно что-то менять в жизни, и продукт с мотивирующими цитатами в такой момент может давать более высокие показатели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1BCF2-0A54-48B6-8A41-64A90590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Недостаточные</a:t>
            </a:r>
          </a:p>
          <a:p xmlns:a="http://schemas.openxmlformats.org/drawingml/2006/main">
            <a:pPr>
              <a:defRPr sz="18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A6486-90C2-426C-B5ED-BFAF3A06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29275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Чтобы прогнозировать отток пользователей, нужно рассчитать retention, для чего не хватает данных — нужно вести логирование времени платежей и т.д.</a:t>
            </a:r>
          </a:p>
        </p:txBody>
      </p:sp>
    </p:spTree>
    <p:extLst>
      <p:ext uri="{BB962C8B-B14F-4D97-AF65-F5344CB8AC3E}">
        <p14:creationId xmlns:p14="http://schemas.microsoft.com/office/powerpoint/2010/main" val="20490735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D7EFA-B9DC-474E-9599-DF23CCB4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3341"/>
                </a:solidFill>
                <a:latin typeface="Arial"/>
                <a:ea typeface="Arial"/>
                <a:cs typeface="Arial"/>
              </a:rPr>
              <a:t>Рекомендации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FEA18-4363-4017-8A11-233938D6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763EA-2EB1-4DF2-AB45-4EB8E826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5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1"/>
                </a:solidFill>
                <a:latin typeface="Arial"/>
                <a:ea typeface="Arial"/>
                <a:cs typeface="Arial"/>
              </a:rPr>
              <a:t>На данный момент доход не падает от введения новой стоимости подписки, поэтому имеет смысл провести еще один эксперимент (продолжение старого):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5E3B5-B8C0-4ED4-AF46-8B01ABB6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53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04800" indent="-152400">
              <a:spcAft>
                <a:spcPts val="1800"/>
              </a:spcAft>
              <a:buChar char="•"/>
              <a:defRPr sz="187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t>Зафиксировать конверсию во вторую подписку</a:t>
            </a:r>
          </a:p>
          <a:p xmlns:a="http://schemas.openxmlformats.org/drawingml/2006/main">
            <a:pPr marL="304800" indent="-152400">
              <a:spcAft>
                <a:spcPts val="1800"/>
              </a:spcAft>
              <a:buChar char="•"/>
              <a:defRPr sz="187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t>Наладить логирование, чтобы зафиксировать поведение пользователей во времени</a:t>
            </a:r>
          </a:p>
          <a:p xmlns:a="http://schemas.openxmlformats.org/drawingml/2006/main">
            <a:pPr marL="304800" indent="-152400">
              <a:spcAft>
                <a:spcPts val="1800"/>
              </a:spcAft>
              <a:buChar char="•"/>
              <a:defRPr sz="187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t>Провести эксперимент в течение 2 недель, чтобы учесть недельную сезонность и стабилизировать данные</a:t>
            </a:r>
          </a:p>
          <a:p xmlns:a="http://schemas.openxmlformats.org/drawingml/2006/main">
            <a:pPr marL="304800" indent="-152400">
              <a:spcAft>
                <a:spcPts val="1800"/>
              </a:spcAft>
              <a:buChar char="•"/>
              <a:defRPr sz="1875" b="0">
                <a:solidFill>
                  <a:srgbClr val="203341"/>
                </a:solidFill>
                <a:latin typeface="Arial"/>
                <a:ea typeface="Arial"/>
                <a:cs typeface="Arial"/>
              </a:defRPr>
            </a:pPr>
            <a:r>
              <a:t>Чтобы точнее понять эластичность спроса по цене, можно рассмотреть введение третьей промежуточной группы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E5EFF-5C89-4B7F-8A0F-4DC9B50D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53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4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46E"/>
                </a:solidFill>
                <a:latin typeface="Arial"/>
                <a:ea typeface="Arial"/>
                <a:cs typeface="Arial"/>
              </a:rPr>
              <a:t>Также нужно соотносить результаты эксперимента с долгосрочным планированием: если есть цель нарастить активную аудиторию, имеет смысл оставить стоимость подписки на уровне 160 у.е.</a:t>
            </a:r>
          </a:p>
        </p:txBody>
      </p:sp>
    </p:spTree>
    <p:extLst>
      <p:ext uri="{BB962C8B-B14F-4D97-AF65-F5344CB8AC3E}">
        <p14:creationId xmlns:p14="http://schemas.microsoft.com/office/powerpoint/2010/main" val="648570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2026-09-15T13:08:25.0910000Z</dcterms:created>
  <dcterms:modified xsi:type="dcterms:W3CDTF">2026-09-15T13:08:25.0910000Z</dcterms:modified>
</coreProperties>
</file>